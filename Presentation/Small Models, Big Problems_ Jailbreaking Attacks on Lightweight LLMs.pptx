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1" r:id="rId2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5b3b7d34d3_1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5b3b7d34d3_1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5b3b7d34d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5b3b7d34d3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5b3b7d34d3_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5b3b7d34d3_1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5b3b7d34d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5b3b7d34d3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5b3b7d34d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5b3b7d34d3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1-Samsung, Apple, Amazon,JPMorgan  Restricts the Use of ChatGPT Internally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3-Deep fake of Tom cruise, king charles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b3b7d34d3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5b3b7d34d3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OWASP</a:t>
            </a:r>
            <a:r>
              <a:rPr lang="en"/>
              <a:t>: nonprofit organization focused on software security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b3b7d34d3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5b3b7d34d3_1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5b3b7d34d3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5b3b7d34d3_1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b3b7d34d3_1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5b3b7d34d3_1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5b3b7d34d3_1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5b3b7d34d3_1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5b3b7d34d3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5b3b7d34d3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5b3b7d34d3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5b3b7d34d3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b3b7d34d3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b3b7d34d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5b454657f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5b454657f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5b454657f3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5b454657f3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5b454657f3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5b454657f3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5b454657f3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5b454657f3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5b454657f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5b454657f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5b454657f3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5b454657f3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5b3b7d34d3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5b3b7d34d3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5b3b7d34d3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5b3b7d34d3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b3b7d34d3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b3b7d34d3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5b3b7d34d3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5b3b7d34d3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5b3b7d34d3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5b3b7d34d3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5b3b7d34d3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5b3b7d34d3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5b3b7d34d3_1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5b3b7d34d3_1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603100"/>
            <a:ext cx="8520600" cy="251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0" dirty="0"/>
              <a:t>Small Models, Big Problems: Jailbreaking Attacks</a:t>
            </a:r>
            <a:endParaRPr sz="40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0" dirty="0"/>
              <a:t>on Lightweight LLMs</a:t>
            </a:r>
            <a:endParaRPr sz="4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87500" y="3507400"/>
            <a:ext cx="7796773" cy="14907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</a:rPr>
              <a:t>Ali Mohamed Ali Hashish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</a:rPr>
              <a:t>Hla Hany Mohamed Helmy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</a:rPr>
              <a:t>Mostafa Ossama Abdelzaher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</a:rPr>
              <a:t>Omar Mohamed Ahmed Amin</a:t>
            </a:r>
            <a:endParaRPr sz="2000" dirty="0">
              <a:solidFill>
                <a:schemeClr val="dk1"/>
              </a:solidFill>
            </a:endParaRPr>
          </a:p>
        </p:txBody>
      </p:sp>
      <p:pic>
        <p:nvPicPr>
          <p:cNvPr id="56" name="Google Shape;56;p13" title="153961143303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500" y="213700"/>
            <a:ext cx="804925" cy="80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Cairo_University_Cres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69425" y="213700"/>
            <a:ext cx="687075" cy="89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Introduction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Motivation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Study Goal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Evaluation Setup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Attack Methods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Evaluation Metrics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Results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Summary &amp; Key Findings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Conclusion &amp; Future Work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283650" y="1354025"/>
            <a:ext cx="8576700" cy="13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0000"/>
                </a:solidFill>
              </a:rPr>
              <a:t>Disclaimer: This presentation contains harmful and     offensive model responses</a:t>
            </a:r>
            <a:endParaRPr sz="2500">
              <a:solidFill>
                <a:srgbClr val="FF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rgbClr val="FF0000"/>
              </a:solidFill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9301" y="2774325"/>
            <a:ext cx="3145401" cy="1768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400" y="1017725"/>
            <a:ext cx="7863189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The wide use of LLMs in today’s world.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Despite safety mechanisms, LLMs are still vulnerable against Jailbreaks.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Study the effectiveness of different static prompt-based jailbreaking attacks.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Motivation</a:t>
            </a:r>
            <a:endParaRPr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3650" y="1099100"/>
            <a:ext cx="6300900" cy="136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2" y="2734825"/>
            <a:ext cx="5427401" cy="170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6863" y="1119550"/>
            <a:ext cx="6050273" cy="3669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97125" y="445023"/>
            <a:ext cx="1317625" cy="45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>
            <a:spLocks noGrp="1"/>
          </p:cNvSpPr>
          <p:nvPr>
            <p:ph type="title"/>
          </p:nvPr>
        </p:nvSpPr>
        <p:spPr>
          <a:xfrm>
            <a:off x="311700" y="21537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220"/>
              <a:t>What is Prompt Injection?</a:t>
            </a:r>
            <a:endParaRPr sz="422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025" y="729675"/>
            <a:ext cx="7801953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6175" y="189275"/>
            <a:ext cx="3263374" cy="4797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>
            <a:spLocks noGrp="1"/>
          </p:cNvSpPr>
          <p:nvPr>
            <p:ph type="title"/>
          </p:nvPr>
        </p:nvSpPr>
        <p:spPr>
          <a:xfrm>
            <a:off x="311700" y="2236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220"/>
              <a:t>Our Research</a:t>
            </a:r>
            <a:endParaRPr sz="4220"/>
          </a:p>
        </p:txBody>
      </p:sp>
      <p:pic>
        <p:nvPicPr>
          <p:cNvPr id="116" name="Google Shape;11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891718" flipH="1">
            <a:off x="2553437" y="1985172"/>
            <a:ext cx="873874" cy="873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Study Goal</a:t>
            </a:r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9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lang="en">
                <a:solidFill>
                  <a:schemeClr val="dk1"/>
                </a:solidFill>
              </a:rPr>
              <a:t>Evaluate 3 jailbreak attacking methods: </a:t>
            </a:r>
            <a:endParaRPr>
              <a:solidFill>
                <a:schemeClr val="dk1"/>
              </a:solidFill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Template-Jailbreak </a:t>
            </a:r>
            <a:endParaRPr>
              <a:solidFill>
                <a:schemeClr val="dk1"/>
              </a:solidFill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Parameters (Generation Exploitation) </a:t>
            </a:r>
            <a:endParaRPr>
              <a:solidFill>
                <a:schemeClr val="dk1"/>
              </a:solidFill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DeepInception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lang="en">
                <a:solidFill>
                  <a:schemeClr val="dk1"/>
                </a:solidFill>
              </a:rPr>
              <a:t>Target 4 popular lightweight models:</a:t>
            </a:r>
            <a:endParaRPr>
              <a:solidFill>
                <a:schemeClr val="dk1"/>
              </a:solidFill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Phi-2-2.7B </a:t>
            </a:r>
            <a:endParaRPr>
              <a:solidFill>
                <a:schemeClr val="dk1"/>
              </a:solidFill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Llama 3.2-1B </a:t>
            </a:r>
            <a:endParaRPr>
              <a:solidFill>
                <a:schemeClr val="dk1"/>
              </a:solidFill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DeepSeek-R1-1.5B</a:t>
            </a:r>
            <a:endParaRPr>
              <a:solidFill>
                <a:schemeClr val="dk1"/>
              </a:solidFill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Qwen3-0.6B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Setup</a:t>
            </a:r>
            <a:endParaRPr/>
          </a:p>
        </p:txBody>
      </p:sp>
      <p:sp>
        <p:nvSpPr>
          <p:cNvPr id="128" name="Google Shape;128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769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Benchmark: 60 prompts (Compliant with OpenAI Categories)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Classifier: Fine-tuned RoBERTa (92% accuracy)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Environment: Google Colab (T4 GPU - 15 GB)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9" name="Google Shape;12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1460" y="1405434"/>
            <a:ext cx="4108240" cy="233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Attack Methods Overview</a:t>
            </a:r>
            <a:endParaRPr/>
          </a:p>
        </p:txBody>
      </p:sp>
      <p:sp>
        <p:nvSpPr>
          <p:cNvPr id="135" name="Google Shape;135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TemplateJailbreak: 78 prompt templates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Parameters: (Top-p, Top-k, etc.)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DeepInception: Multi-layer "authority" prompt structure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Attack Methods - TemplateJailbreak</a:t>
            </a:r>
            <a:endParaRPr/>
          </a:p>
        </p:txBody>
      </p:sp>
      <p:pic>
        <p:nvPicPr>
          <p:cNvPr id="141" name="Google Shape;14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388" y="1073700"/>
            <a:ext cx="8155217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Attack Methods - TemplateJailbreak</a:t>
            </a:r>
            <a:endParaRPr/>
          </a:p>
        </p:txBody>
      </p:sp>
      <p:pic>
        <p:nvPicPr>
          <p:cNvPr id="147" name="Google Shape;14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2538" y="1093925"/>
            <a:ext cx="2598926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Attack Methods - Parameters</a:t>
            </a:r>
            <a:endParaRPr/>
          </a:p>
        </p:txBody>
      </p:sp>
      <p:sp>
        <p:nvSpPr>
          <p:cNvPr id="153" name="Google Shape;153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47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Char char="●"/>
            </a:pPr>
            <a:r>
              <a:rPr lang="en">
                <a:solidFill>
                  <a:srgbClr val="333333"/>
                </a:solidFill>
              </a:rPr>
              <a:t>Tune sampling parameters</a:t>
            </a:r>
            <a:endParaRPr>
              <a:solidFill>
                <a:srgbClr val="333333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rgbClr val="333333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800"/>
              <a:buChar char="●"/>
            </a:pPr>
            <a:r>
              <a:rPr lang="en">
                <a:solidFill>
                  <a:srgbClr val="333333"/>
                </a:solidFill>
              </a:rPr>
              <a:t>Parameters used</a:t>
            </a:r>
            <a:endParaRPr>
              <a:solidFill>
                <a:srgbClr val="333333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○"/>
            </a:pPr>
            <a:r>
              <a:rPr lang="en">
                <a:solidFill>
                  <a:srgbClr val="333333"/>
                </a:solidFill>
              </a:rPr>
              <a:t>Top P</a:t>
            </a:r>
            <a:endParaRPr>
              <a:solidFill>
                <a:srgbClr val="333333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○"/>
            </a:pPr>
            <a:r>
              <a:rPr lang="en">
                <a:solidFill>
                  <a:srgbClr val="333333"/>
                </a:solidFill>
              </a:rPr>
              <a:t>Top K</a:t>
            </a:r>
            <a:endParaRPr>
              <a:solidFill>
                <a:srgbClr val="333333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○"/>
            </a:pPr>
            <a:r>
              <a:rPr lang="en">
                <a:solidFill>
                  <a:srgbClr val="333333"/>
                </a:solidFill>
              </a:rPr>
              <a:t>Temperature</a:t>
            </a:r>
            <a:endParaRPr>
              <a:solidFill>
                <a:srgbClr val="333333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○"/>
            </a:pPr>
            <a:r>
              <a:rPr lang="en">
                <a:solidFill>
                  <a:srgbClr val="333333"/>
                </a:solidFill>
              </a:rPr>
              <a:t>Frequency penalty</a:t>
            </a:r>
            <a:endParaRPr>
              <a:solidFill>
                <a:srgbClr val="333333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○"/>
            </a:pPr>
            <a:r>
              <a:rPr lang="en">
                <a:solidFill>
                  <a:srgbClr val="333333"/>
                </a:solidFill>
              </a:rPr>
              <a:t>Presence Penalty</a:t>
            </a:r>
            <a:endParaRPr>
              <a:solidFill>
                <a:srgbClr val="333333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rgbClr val="333333"/>
              </a:solidFill>
            </a:endParaRPr>
          </a:p>
        </p:txBody>
      </p:sp>
      <p:pic>
        <p:nvPicPr>
          <p:cNvPr id="154" name="Google Shape;15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4400" y="950188"/>
            <a:ext cx="3702350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Attack Methods - DeepInception</a:t>
            </a:r>
            <a:endParaRPr/>
          </a:p>
        </p:txBody>
      </p:sp>
      <p:sp>
        <p:nvSpPr>
          <p:cNvPr id="160" name="Google Shape;160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47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Char char="●"/>
            </a:pPr>
            <a:r>
              <a:rPr lang="en">
                <a:solidFill>
                  <a:srgbClr val="333333"/>
                </a:solidFill>
              </a:rPr>
              <a:t>Multi-layered </a:t>
            </a:r>
            <a:endParaRPr>
              <a:solidFill>
                <a:srgbClr val="333333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rgbClr val="333333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800"/>
              <a:buChar char="●"/>
            </a:pPr>
            <a:r>
              <a:rPr lang="en">
                <a:solidFill>
                  <a:srgbClr val="333333"/>
                </a:solidFill>
              </a:rPr>
              <a:t>Milgram experiment</a:t>
            </a:r>
            <a:endParaRPr>
              <a:solidFill>
                <a:srgbClr val="333333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rgbClr val="333333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800"/>
              <a:buChar char="●"/>
            </a:pPr>
            <a:r>
              <a:rPr lang="en">
                <a:solidFill>
                  <a:srgbClr val="333333"/>
                </a:solidFill>
              </a:rPr>
              <a:t>"authority" prompt structure</a:t>
            </a:r>
            <a:endParaRPr>
              <a:solidFill>
                <a:srgbClr val="333333"/>
              </a:solidFill>
            </a:endParaRPr>
          </a:p>
        </p:txBody>
      </p:sp>
      <p:pic>
        <p:nvPicPr>
          <p:cNvPr id="161" name="Google Shape;16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9101" y="1568763"/>
            <a:ext cx="4732625" cy="200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Attack Methods - DeepInception</a:t>
            </a:r>
            <a:endParaRPr/>
          </a:p>
        </p:txBody>
      </p:sp>
      <p:pic>
        <p:nvPicPr>
          <p:cNvPr id="167" name="Google Shape;16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199" cy="2894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Attack Methods - DeepInception</a:t>
            </a:r>
            <a:endParaRPr/>
          </a:p>
        </p:txBody>
      </p:sp>
      <p:pic>
        <p:nvPicPr>
          <p:cNvPr id="173" name="Google Shape;17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875" y="1170125"/>
            <a:ext cx="3315523" cy="382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3373" y="1170125"/>
            <a:ext cx="3360762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Metrics</a:t>
            </a:r>
            <a:endParaRPr/>
          </a:p>
        </p:txBody>
      </p:sp>
      <p:sp>
        <p:nvSpPr>
          <p:cNvPr id="180" name="Google Shape;180;p33"/>
          <p:cNvSpPr txBox="1">
            <a:spLocks noGrp="1"/>
          </p:cNvSpPr>
          <p:nvPr>
            <p:ph type="body" idx="1"/>
          </p:nvPr>
        </p:nvSpPr>
        <p:spPr>
          <a:xfrm>
            <a:off x="311700" y="1020000"/>
            <a:ext cx="9624600" cy="41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>
              <a:buClr>
                <a:schemeClr val="dk1"/>
              </a:buClr>
            </a:pPr>
            <a:r>
              <a:rPr lang="en" dirty="0">
                <a:solidFill>
                  <a:schemeClr val="dk1"/>
                </a:solidFill>
              </a:rPr>
              <a:t>Attack Success Rate (ASR):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>
              <a:spcBef>
                <a:spcPts val="1200"/>
              </a:spcBef>
              <a:buClr>
                <a:schemeClr val="dk1"/>
              </a:buClr>
            </a:pPr>
            <a:r>
              <a:rPr lang="en" dirty="0">
                <a:solidFill>
                  <a:schemeClr val="dk1"/>
                </a:solidFill>
              </a:rPr>
              <a:t>Efficiency: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dk1"/>
                </a:solidFill>
              </a:rPr>
              <a:t>c = successful jailbreaks, n = total questions,</a:t>
            </a:r>
            <a:endParaRPr sz="1700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 dirty="0">
                <a:solidFill>
                  <a:schemeClr val="dk1"/>
                </a:solidFill>
              </a:rPr>
              <a:t>q = successful queries, o = total query attempts</a:t>
            </a:r>
            <a:endParaRPr sz="1700" dirty="0">
              <a:solidFill>
                <a:schemeClr val="dk1"/>
              </a:solidFill>
            </a:endParaRPr>
          </a:p>
        </p:txBody>
      </p:sp>
      <p:pic>
        <p:nvPicPr>
          <p:cNvPr id="181" name="Google Shape;181;p33"/>
          <p:cNvPicPr preferRelativeResize="0"/>
          <p:nvPr/>
        </p:nvPicPr>
        <p:blipFill rotWithShape="1">
          <a:blip r:embed="rId3">
            <a:alphaModFix/>
          </a:blip>
          <a:srcRect t="15426"/>
          <a:stretch/>
        </p:blipFill>
        <p:spPr>
          <a:xfrm>
            <a:off x="3439400" y="1576400"/>
            <a:ext cx="2265224" cy="93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68739" y="3052950"/>
            <a:ext cx="2206550" cy="93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pic>
        <p:nvPicPr>
          <p:cNvPr id="188" name="Google Shape;188;p34"/>
          <p:cNvPicPr preferRelativeResize="0"/>
          <p:nvPr/>
        </p:nvPicPr>
        <p:blipFill rotWithShape="1">
          <a:blip r:embed="rId3">
            <a:alphaModFix/>
          </a:blip>
          <a:srcRect t="18857"/>
          <a:stretch/>
        </p:blipFill>
        <p:spPr>
          <a:xfrm>
            <a:off x="0" y="1234026"/>
            <a:ext cx="9143999" cy="145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1975" y="2571752"/>
            <a:ext cx="4100049" cy="2153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&amp; Key Findings</a:t>
            </a:r>
            <a:endParaRPr/>
          </a:p>
        </p:txBody>
      </p:sp>
      <p:sp>
        <p:nvSpPr>
          <p:cNvPr id="195" name="Google Shape;195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Template-Jailbreak: Most reliable, low efficiency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Parameters Attack: Good compromise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DeepInception: Least reliable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201" name="Google Shape;201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Lightweight LLMs are still vulnerable to prompt attacks.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Current safety features are insufficient.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Need better robustness evaluation tools and defensive training.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207" name="Google Shape;207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Conduct a study to larger LLMs.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Explore dynamic attacks (e.g., TAP, LoFT).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9"/>
          <p:cNvSpPr txBox="1">
            <a:spLocks noGrp="1"/>
          </p:cNvSpPr>
          <p:nvPr>
            <p:ph type="body" idx="1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800">
                <a:solidFill>
                  <a:schemeClr val="dk1"/>
                </a:solidFill>
              </a:rPr>
              <a:t>Any Questions?</a:t>
            </a:r>
            <a:endParaRPr sz="4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8"/>
          <p:cNvSpPr txBox="1">
            <a:spLocks noGrp="1"/>
          </p:cNvSpPr>
          <p:nvPr>
            <p:ph type="title"/>
          </p:nvPr>
        </p:nvSpPr>
        <p:spPr>
          <a:xfrm>
            <a:off x="311700" y="21537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220"/>
              <a:t>Thank You</a:t>
            </a:r>
            <a:endParaRPr sz="42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357</Words>
  <Application>Microsoft Office PowerPoint</Application>
  <PresentationFormat>On-screen Show (16:9)</PresentationFormat>
  <Paragraphs>102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9" baseType="lpstr">
      <vt:lpstr>Arial</vt:lpstr>
      <vt:lpstr>Simple Light</vt:lpstr>
      <vt:lpstr>Small Models, Big Problems: Jailbreaking Attacks on Lightweight LLMs </vt:lpstr>
      <vt:lpstr>Agenda</vt:lpstr>
      <vt:lpstr>Disclaimer: This presentation contains harmful and     offensive model responses </vt:lpstr>
      <vt:lpstr>Introduction</vt:lpstr>
      <vt:lpstr>Motivation</vt:lpstr>
      <vt:lpstr>Motivation</vt:lpstr>
      <vt:lpstr>Motivation</vt:lpstr>
      <vt:lpstr>What is Prompt Injection?</vt:lpstr>
      <vt:lpstr>PowerPoint Presentation</vt:lpstr>
      <vt:lpstr>PowerPoint Presentation</vt:lpstr>
      <vt:lpstr>Our Research</vt:lpstr>
      <vt:lpstr>Study Goal</vt:lpstr>
      <vt:lpstr>Evaluation Setup</vt:lpstr>
      <vt:lpstr>Attack Methods Overview</vt:lpstr>
      <vt:lpstr>Attack Methods - TemplateJailbreak</vt:lpstr>
      <vt:lpstr>Attack Methods - TemplateJailbreak</vt:lpstr>
      <vt:lpstr>Attack Methods - Parameters</vt:lpstr>
      <vt:lpstr>Attack Methods - DeepInception</vt:lpstr>
      <vt:lpstr>Attack Methods - DeepInception</vt:lpstr>
      <vt:lpstr>Attack Methods - DeepInception</vt:lpstr>
      <vt:lpstr>Evaluation Metrics</vt:lpstr>
      <vt:lpstr>Results</vt:lpstr>
      <vt:lpstr>Summary &amp; Key Findings</vt:lpstr>
      <vt:lpstr>Conclusion</vt:lpstr>
      <vt:lpstr>Future work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Ali Hashish</cp:lastModifiedBy>
  <cp:revision>2</cp:revision>
  <dcterms:modified xsi:type="dcterms:W3CDTF">2025-05-20T20:55:33Z</dcterms:modified>
</cp:coreProperties>
</file>